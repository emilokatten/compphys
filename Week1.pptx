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804EFA-1F61-9C2B-7391-3F062B7E6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6DD40BB-D220-5F1D-289C-25241EB75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D314DF2-10FA-8624-2688-7AB5B3C6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FA2CB6B-4AA2-36E9-6F45-9245270F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A3853F8-11E4-FE16-977F-714C2A32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9067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FB505-0CED-0EDC-DE7B-25DF4E68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66103F-AC86-B6C4-CAB3-566AEA7D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6B99E86-4FC9-D872-5D7E-B32618539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1F8CFE7-80A6-2380-D802-406C5A6A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01DC375-0B7C-5EE8-2490-09213C75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67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02107B-9517-748D-574E-A220D493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236C72D-28E5-76E0-56A9-227B22F80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B9BBA2D-2733-4969-5D4F-D9FA2DAC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A031829-2692-E8B5-FA46-72F682BA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6F6E5AC-2027-BA9B-7FC5-329F4E45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734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A36CF-8C74-60F2-7AE5-F300596E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51CBF2-EF9D-1369-410F-4FC144EDB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E85D15-AEF5-05C6-2E2A-497303F74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16B5A22-B983-FFE1-2758-98B0318C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AEAADC4-F36B-2687-907D-13E358E3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F8B6438-61CF-CE17-812D-6A673BE3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690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7F0047-A395-57B5-B022-7DF75C92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D6D43E0-B412-1127-796F-4B09C168C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2B1EB66-40F1-858D-F71F-1EA4C5602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DFA320F-F3A9-AF38-97EC-40CEFA74E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0C27E4D6-6AB9-9E74-C2EB-14A120679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42EBAE05-AADE-885D-6DBB-3ADDFC54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39CDE01C-6041-27A4-DAB7-AB7146AB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C374FD7-088F-505E-FD65-47CB4C0F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877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E1DA3D-9778-5FDF-E809-F01CD953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7E6D815-0B25-EE21-46A1-A3F1EF8D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D69250E-5E60-9C4D-24C6-11B0F5BD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D39D036-5EC3-9267-3BBE-9393B26D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09923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FA805F4-2245-6FEE-6009-D9A3C903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A5C015FD-5132-E1CD-9125-2590427F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7D58629-F95B-CD50-2828-D3BB052E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316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B1A34-765B-35BB-C8EB-B924A4843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5D96C60-3390-C141-ADAD-835A49D1E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832FA2C-EB21-47EE-1255-C2F62CDDF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713A38B-4AF2-976F-58F1-DA326656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8BC3F2D-D839-4753-663E-1842A4593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6ED5B8D-2610-FA16-4AE8-841266EB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430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893A-0474-AE76-4F02-0CB995A7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893B2923-DAF3-A105-E363-F8778F051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F5EF6E5-1833-296E-5F50-12484F62F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6597AC2-88CF-872C-69EB-C4BFCE93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EA95627-B52E-9F77-F8B6-4A7AD7BF1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CBFA4B7-4140-6CD1-8AE7-2F4C8A79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012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FDDB1-56ED-81C2-9F66-B7444177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391331C-C25B-B0FC-8495-631CB54C5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CDD3B5F-109D-698E-4F39-65049139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D160F43-C9B3-EAFC-022E-06ADD0F8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34D1FD2-A522-D3A0-914E-214D912D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593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05E0E3DD-02F0-F114-D872-5D8A601F4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9A0B910-E85B-3F90-9C67-77A63DAA7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E8BE645-AF93-E28C-BC05-228BB0FD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E985146-5A13-263F-C0BB-B71BA9AE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E91C57-3009-1E40-9345-30915C97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165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58DC8B3-8418-E326-1608-E6AA0226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188F596-6F30-0172-D4A5-AE1835C6B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99B5269-9FE8-BDAE-5979-2307D46F1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7C7A0-8B84-41CB-B44E-ABE34D384A92}" type="datetimeFigureOut">
              <a:rPr lang="da-DK" smtClean="0"/>
              <a:t>08-09-2026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117E0CD-C777-72DA-9CBB-803C521BF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C2318C9-840A-C315-DABE-2C029F447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E03FC-3A48-4991-88CE-EDFD8BDA5D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974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516B48-61CC-00CE-C222-B20FD9D11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90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Week1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Sampling and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94454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03CAB5-4BF2-AEC8-4D70-DFE421A8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86589"/>
          </a:xfrm>
        </p:spPr>
        <p:txBody>
          <a:bodyPr/>
          <a:lstStyle/>
          <a:p>
            <a:r>
              <a:rPr lang="en-US" noProof="0" dirty="0"/>
              <a:t>Sampling from known distribution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69E758B7-2EAD-808F-23B4-117B51658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1718" y="1143001"/>
            <a:ext cx="5730494" cy="1299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A24802F9-A79C-A047-D5B1-75FEFC7706D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n-US" noProof="0" dirty="0"/>
                  <a:t>Normal distribution: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𝜋𝜎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𝑐𝑒𝑛𝑡𝑒𝑟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A24802F9-A79C-A047-D5B1-75FEFC7706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 l="-930" t="-112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lede 7">
            <a:extLst>
              <a:ext uri="{FF2B5EF4-FFF2-40B4-BE49-F238E27FC236}">
                <a16:creationId xmlns:a16="http://schemas.microsoft.com/office/drawing/2014/main" id="{6F957B9B-F441-CE32-B0B6-A2E1D47D6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109" y="3062789"/>
            <a:ext cx="63912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5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233C-8EFA-2C34-560E-42AFDDB8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D01427-C326-376A-D75F-7922B99A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86589"/>
          </a:xfrm>
        </p:spPr>
        <p:txBody>
          <a:bodyPr/>
          <a:lstStyle/>
          <a:p>
            <a:r>
              <a:rPr lang="en-US" noProof="0" dirty="0"/>
              <a:t>Inverse transform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0F3725AC-216F-A458-52F7-1EB7B93A68C4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n-US" noProof="0" dirty="0"/>
                  <a:t>Cumulative distribution function CDF: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noProof="0" dirty="0"/>
              </a:p>
              <a:p>
                <a:r>
                  <a:rPr lang="en-US" noProof="0" dirty="0"/>
                  <a:t>If 𝐹 is continuous and strictly increasing, then 𝑈 = 𝐹(𝑋) is uniformly distributed on </a:t>
                </a:r>
                <a:br>
                  <a:rPr lang="en-US" noProof="0" dirty="0"/>
                </a:br>
                <a:r>
                  <a:rPr lang="en-US" noProof="0" dirty="0"/>
                  <a:t>[0, 1]. The method:</a:t>
                </a:r>
              </a:p>
              <a:p>
                <a:pPr marL="342900" indent="-342900">
                  <a:buAutoNum type="arabicPeriod"/>
                </a:pPr>
                <a:r>
                  <a:rPr lang="en-US" noProof="0" dirty="0"/>
                  <a:t>Draw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noProof="0" dirty="0"/>
              </a:p>
              <a:p>
                <a:pPr marL="342900" indent="-342900">
                  <a:buAutoNum type="arabicPeriod"/>
                </a:pPr>
                <a:r>
                  <a:rPr lang="en-US" noProof="0" dirty="0"/>
                  <a:t>Solve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noProof="0" dirty="0"/>
                  <a:t> for x</a:t>
                </a:r>
              </a:p>
              <a:p>
                <a:pPr marL="342900" indent="-342900">
                  <a:buAutoNum type="arabicPeriod"/>
                </a:pPr>
                <a:r>
                  <a:rPr lang="en-US" noProof="0" dirty="0"/>
                  <a:t>Return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pPr marL="342900" indent="-342900">
                  <a:buAutoNum type="arabicPeriod"/>
                </a:pPr>
                <a:endParaRPr lang="en-US" noProof="0" dirty="0"/>
              </a:p>
              <a:p>
                <a:r>
                  <a:rPr lang="en-US" noProof="0" dirty="0"/>
                  <a:t>Convenient when CDF can be evaluated and inverted efficiently</a:t>
                </a:r>
              </a:p>
            </p:txBody>
          </p:sp>
        </mc:Choice>
        <mc:Fallback xmlns="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0F3725AC-216F-A458-52F7-1EB7B93A6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t="-208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lede 7">
            <a:extLst>
              <a:ext uri="{FF2B5EF4-FFF2-40B4-BE49-F238E27FC236}">
                <a16:creationId xmlns:a16="http://schemas.microsoft.com/office/drawing/2014/main" id="{497D0043-02AD-358A-D410-4DFB7D88C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987425"/>
            <a:ext cx="5128976" cy="2330579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008852D1-9B62-F5A5-69B0-E4C9BBBFA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188" y="3318004"/>
            <a:ext cx="34385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10BA-5F2A-37A3-CE02-5153C71B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90BB7-C7EC-E1A9-58FA-C2BFE2BEF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86589"/>
          </a:xfrm>
        </p:spPr>
        <p:txBody>
          <a:bodyPr/>
          <a:lstStyle/>
          <a:p>
            <a:r>
              <a:rPr lang="en-US" noProof="0" dirty="0"/>
              <a:t>Inverse transform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AF853A94-9E67-38F9-4D7F-EB3913D3EC4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n-US" noProof="0" dirty="0"/>
                  <a:t>Cumulative distribution function CDF: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noProof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noProof="0" dirty="0"/>
              </a:p>
              <a:p>
                <a:r>
                  <a:rPr lang="en-US" noProof="0" dirty="0"/>
                  <a:t>If 𝐹 is continuous and strictly increasing, then 𝑈 = 𝐹(𝑋) is uniformly distributed on </a:t>
                </a:r>
                <a:br>
                  <a:rPr lang="en-US" noProof="0" dirty="0"/>
                </a:br>
                <a:r>
                  <a:rPr lang="en-US" noProof="0" dirty="0"/>
                  <a:t>[0, 1]. The method:</a:t>
                </a:r>
              </a:p>
              <a:p>
                <a:pPr marL="342900" indent="-342900">
                  <a:buAutoNum type="arabicPeriod"/>
                </a:pPr>
                <a:r>
                  <a:rPr lang="en-US" noProof="0" dirty="0"/>
                  <a:t>Draw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noProof="0" dirty="0"/>
              </a:p>
              <a:p>
                <a:pPr marL="342900" indent="-342900">
                  <a:buAutoNum type="arabicPeriod"/>
                </a:pPr>
                <a:r>
                  <a:rPr lang="en-US" noProof="0" dirty="0"/>
                  <a:t>Solve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noProof="0" dirty="0"/>
                  <a:t> for x</a:t>
                </a:r>
              </a:p>
              <a:p>
                <a:pPr marL="342900" indent="-342900">
                  <a:buAutoNum type="arabicPeriod"/>
                </a:pPr>
                <a:r>
                  <a:rPr lang="en-US" noProof="0" dirty="0"/>
                  <a:t>Return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pPr marL="342900" indent="-342900">
                  <a:buAutoNum type="arabicPeriod"/>
                </a:pPr>
                <a:endParaRPr lang="en-US" noProof="0" dirty="0"/>
              </a:p>
              <a:p>
                <a:r>
                  <a:rPr lang="en-US" noProof="0" dirty="0"/>
                  <a:t>Convenient when CDF can be evaluated and inverted efficiently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AF853A94-9E67-38F9-4D7F-EB3913D3E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t="-208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3BB537F5-658F-FCB5-59E0-5796236C467F}"/>
                  </a:ext>
                </a:extLst>
              </p:cNvPr>
              <p:cNvSpPr txBox="1"/>
              <p:nvPr/>
            </p:nvSpPr>
            <p:spPr>
              <a:xfrm>
                <a:off x="6045868" y="1106905"/>
                <a:ext cx="4896853" cy="343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Linear boundary example from lecture notes: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𝑤ℎ𝑒𝑟𝑒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 the CDF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And 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 for x: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And finally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3BB537F5-658F-FCB5-59E0-5796236C4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868" y="1106905"/>
                <a:ext cx="4896853" cy="3438121"/>
              </a:xfrm>
              <a:prstGeom prst="rect">
                <a:avLst/>
              </a:prstGeom>
              <a:blipFill>
                <a:blip r:embed="rId3"/>
                <a:stretch>
                  <a:fillRect l="-1121" t="-887" b="-35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lede 5">
            <a:extLst>
              <a:ext uri="{FF2B5EF4-FFF2-40B4-BE49-F238E27FC236}">
                <a16:creationId xmlns:a16="http://schemas.microsoft.com/office/drawing/2014/main" id="{041B0DDC-808A-CFCB-8CBD-974FD1A0D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815" y="4554962"/>
            <a:ext cx="3795669" cy="2225379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42EFAE46-72EB-F846-C38C-349F80A97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484" y="4545026"/>
            <a:ext cx="2082907" cy="2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9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9B11-5741-F04D-7A01-B731A67B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8F01D-0251-B594-C6F7-B3BFB915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86589"/>
          </a:xfrm>
        </p:spPr>
        <p:txBody>
          <a:bodyPr/>
          <a:lstStyle/>
          <a:p>
            <a:r>
              <a:rPr lang="en-US" noProof="0" dirty="0"/>
              <a:t>Rejection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8381E661-0D67-BCE9-C01D-D981A7A0E5C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n-US" noProof="0" dirty="0"/>
                  <a:t>Used when </a:t>
                </a:r>
                <a:r>
                  <a:rPr lang="en-US" dirty="0"/>
                  <a:t>inverse transform sampling is impractical.</a:t>
                </a:r>
              </a:p>
              <a:p>
                <a:r>
                  <a:rPr lang="en-US" dirty="0"/>
                  <a:t>Choose a proposal density g(x) where values can easily be drawn, and choose M such that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Mg(x) is an envelope for p(x)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Draw x from g(x)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Accept x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The average acceptance rate is 1/M</a:t>
                </a:r>
              </a:p>
              <a:p>
                <a:endParaRPr lang="en-US" noProof="0" dirty="0"/>
              </a:p>
            </p:txBody>
          </p:sp>
        </mc:Choice>
        <mc:Fallback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8381E661-0D67-BCE9-C01D-D981A7A0E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t="-112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Billede 6">
            <a:extLst>
              <a:ext uri="{FF2B5EF4-FFF2-40B4-BE49-F238E27FC236}">
                <a16:creationId xmlns:a16="http://schemas.microsoft.com/office/drawing/2014/main" id="{7983F685-981F-55DF-42FB-E7EEB0A3F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422" y="3064930"/>
            <a:ext cx="4954768" cy="25918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22665F97-A8F6-665C-4FDF-C4DC27F9A027}"/>
                  </a:ext>
                </a:extLst>
              </p:cNvPr>
              <p:cNvSpPr txBox="1"/>
              <p:nvPr/>
            </p:nvSpPr>
            <p:spPr>
              <a:xfrm>
                <a:off x="6644640" y="1001486"/>
                <a:ext cx="4467497" cy="1495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Example with parabola: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b="0" dirty="0"/>
              </a:p>
              <a:p>
                <a:r>
                  <a:rPr lang="da-DK" sz="1600" dirty="0" err="1"/>
                  <a:t>Choose</a:t>
                </a:r>
                <a:r>
                  <a:rPr lang="da-DK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a-DK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=3/2</m:t>
                    </m:r>
                  </m:oMath>
                </a14:m>
                <a:r>
                  <a:rPr lang="da-DK" sz="1600" dirty="0"/>
                  <a:t> </a:t>
                </a:r>
                <a:r>
                  <a:rPr lang="da-DK" sz="1600" dirty="0" err="1"/>
                  <a:t>since</a:t>
                </a:r>
                <a:r>
                  <a:rPr lang="da-DK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sz="1600" dirty="0"/>
                  <a:t> </a:t>
                </a:r>
                <a:r>
                  <a:rPr lang="da-DK" sz="1600" dirty="0" err="1"/>
                  <a:t>peaks</a:t>
                </a:r>
                <a:r>
                  <a:rPr lang="da-DK" sz="1600" dirty="0"/>
                  <a:t> 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da-DK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𝑀𝑔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da-DK" sz="1600" dirty="0"/>
              </a:p>
            </p:txBody>
          </p:sp>
        </mc:Choice>
        <mc:Fallback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22665F97-A8F6-665C-4FDF-C4DC27F9A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40" y="1001486"/>
                <a:ext cx="4467497" cy="1495666"/>
              </a:xfrm>
              <a:prstGeom prst="rect">
                <a:avLst/>
              </a:prstGeom>
              <a:blipFill>
                <a:blip r:embed="rId4"/>
                <a:stretch>
                  <a:fillRect l="-682" t="-1220" b="-81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63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443E-5747-956A-944E-E07785FE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8B4FD-7E7A-C3E9-AA4A-16CE7DD0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86589"/>
          </a:xfrm>
        </p:spPr>
        <p:txBody>
          <a:bodyPr/>
          <a:lstStyle/>
          <a:p>
            <a:r>
              <a:rPr lang="en-US" noProof="0" dirty="0"/>
              <a:t>Markov Chains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E31E08BB-52E3-B736-016D-56F215B24FA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n-US" noProof="0" dirty="0"/>
                  <a:t>First order: Next state depends on current state, not </a:t>
                </a:r>
                <a:r>
                  <a:rPr lang="en-US" dirty="0"/>
                  <a:t>the history of states.</a:t>
                </a:r>
              </a:p>
              <a:p>
                <a:r>
                  <a:rPr lang="en-US" dirty="0"/>
                  <a:t>The transition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describes moving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noProof="0" dirty="0"/>
                  <a:t> to </a:t>
                </a:r>
                <a14:m>
                  <m:oMath xmlns:m="http://schemas.openxmlformats.org/officeDocument/2006/math"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noProof="0" dirty="0"/>
                  <a:t>. Each row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noProof="0" dirty="0"/>
                  <a:t> must sum to 1.</a:t>
                </a:r>
              </a:p>
              <a:p>
                <a:endParaRPr lang="en-US" noProof="0" dirty="0"/>
              </a:p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noProof="0" dirty="0"/>
              </a:p>
              <a:p>
                <a:endParaRPr lang="en-US" dirty="0"/>
              </a:p>
              <a:p>
                <a:r>
                  <a:rPr lang="en-US" noProof="0" dirty="0"/>
                  <a:t>The propagation is deterministic with probability-vector calculations, </a:t>
                </a:r>
                <a:r>
                  <a:rPr lang="en-US" dirty="0"/>
                  <a:t>even with random initializations.</a:t>
                </a:r>
              </a:p>
              <a:p>
                <a:r>
                  <a:rPr lang="en-US" noProof="0" dirty="0"/>
                  <a:t>Following </a:t>
                </a:r>
                <a:r>
                  <a:rPr lang="en-US" dirty="0"/>
                  <a:t>the path of one initialization (stochastic propagation) introduces a level of randomness.</a:t>
                </a:r>
                <a:endParaRPr lang="en-US" noProof="0" dirty="0"/>
              </a:p>
            </p:txBody>
          </p:sp>
        </mc:Choice>
        <mc:Fallback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E31E08BB-52E3-B736-016D-56F215B24F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t="-1120" r="-10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Billede 9">
            <a:extLst>
              <a:ext uri="{FF2B5EF4-FFF2-40B4-BE49-F238E27FC236}">
                <a16:creationId xmlns:a16="http://schemas.microsoft.com/office/drawing/2014/main" id="{FE78E537-352E-6EA0-BE3F-C14DA46E7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0494"/>
            <a:ext cx="4782217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0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4F23-2103-8E7A-4433-FE538B35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9AF06-C664-A9D1-B79B-D5BCB769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86589"/>
          </a:xfrm>
        </p:spPr>
        <p:txBody>
          <a:bodyPr/>
          <a:lstStyle/>
          <a:p>
            <a:r>
              <a:rPr lang="en-US" noProof="0" dirty="0"/>
              <a:t>Markov Chains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57EFAA57-5E10-921A-E0D1-07BA499F342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n-US" noProof="0" dirty="0"/>
                  <a:t>The stochastic propagation can be measured in different ways: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Many independent system, count the states after e.g.</a:t>
                </a:r>
                <a:r>
                  <a:rPr lang="en-US" dirty="0"/>
                  <a:t> 10 transitions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One </a:t>
                </a:r>
                <a:r>
                  <a:rPr lang="en-US" dirty="0"/>
                  <a:t>system running for a long time, count the time spent in each state</a:t>
                </a:r>
                <a:br>
                  <a:rPr lang="en-US" dirty="0"/>
                </a:br>
                <a:r>
                  <a:rPr lang="en-US" dirty="0">
                    <a:solidFill>
                      <a:srgbClr val="FF0000"/>
                    </a:solidFill>
                  </a:rPr>
                  <a:t>More on this?</a:t>
                </a:r>
                <a:endParaRPr lang="en-US" dirty="0"/>
              </a:p>
              <a:p>
                <a:r>
                  <a:rPr lang="en-US" dirty="0"/>
                  <a:t>Since it is Monte Carlo simulation, the error will decrease with larger ensembles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𝑒𝑛𝑠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what about one long chain?</a:t>
                </a:r>
                <a:endParaRPr lang="en-US" dirty="0"/>
              </a:p>
            </p:txBody>
          </p:sp>
        </mc:Choice>
        <mc:Fallback>
          <p:sp>
            <p:nvSpPr>
              <p:cNvPr id="4" name="Pladsholder til tekst 3">
                <a:extLst>
                  <a:ext uri="{FF2B5EF4-FFF2-40B4-BE49-F238E27FC236}">
                    <a16:creationId xmlns:a16="http://schemas.microsoft.com/office/drawing/2014/main" id="{57EFAA57-5E10-921A-E0D1-07BA499F34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t="-112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BF2B548C-0965-97A8-BF7C-9C66BA15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231" y="1643062"/>
            <a:ext cx="37147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31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468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Office-tema</vt:lpstr>
      <vt:lpstr>Week1  Sampling and Markov Chains</vt:lpstr>
      <vt:lpstr>Sampling from known distribution</vt:lpstr>
      <vt:lpstr>Inverse transform method</vt:lpstr>
      <vt:lpstr>Inverse transform method</vt:lpstr>
      <vt:lpstr>Rejection sampling</vt:lpstr>
      <vt:lpstr>Markov Chains</vt:lpstr>
      <vt:lpstr>Markov Chains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 Krogh Nielsen</dc:creator>
  <cp:lastModifiedBy>Emil Krogh Nielsen</cp:lastModifiedBy>
  <cp:revision>26</cp:revision>
  <dcterms:created xsi:type="dcterms:W3CDTF">2026-09-08T09:20:59Z</dcterms:created>
  <dcterms:modified xsi:type="dcterms:W3CDTF">2026-09-08T14:07:20Z</dcterms:modified>
</cp:coreProperties>
</file>